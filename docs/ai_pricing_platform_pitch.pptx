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1295C"/>
                </a:solidFill>
                <a:latin typeface="Arial"/>
              </a:defRPr>
            </a:pPr>
            <a:r>
              <a:rPr sz="1100" b="0" i="0" u="none" strike="noStrike">
                <a:solidFill>
                  <a:srgbClr val="21295C"/>
                </a:solidFill>
                <a:latin typeface="Arial"/>
              </a:rPr>
              <a:t>月度客流趋势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客流</c:v>
                </c:pt>
              </c:strCache>
            </c:strRef>
          </c:tx>
          <c:spPr>
            <a:solidFill>
              <a:srgbClr val="065A82"/>
            </a:solidFill>
            <a:ln w="31750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  <c:pt idx="6">
                    <c:v>7月</c:v>
                  </c:pt>
                  <c:pt idx="7">
                    <c:v>8月</c:v>
                  </c:pt>
                  <c:pt idx="8">
                    <c:v>9月</c:v>
                  </c:pt>
                  <c:pt idx="9">
                    <c:v>10月</c:v>
                  </c:pt>
                  <c:pt idx="10">
                    <c:v>11月</c:v>
                  </c:pt>
                  <c:pt idx="11">
                    <c:v>12月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18500</c:v>
                </c:pt>
                <c:pt idx="1">
                  <c:v>16200</c:v>
                </c:pt>
                <c:pt idx="2">
                  <c:v>22000</c:v>
                </c:pt>
                <c:pt idx="3">
                  <c:v>24500</c:v>
                </c:pt>
                <c:pt idx="4">
                  <c:v>31000</c:v>
                </c:pt>
                <c:pt idx="5">
                  <c:v>33500</c:v>
                </c:pt>
                <c:pt idx="6">
                  <c:v>38000</c:v>
                </c:pt>
                <c:pt idx="7">
                  <c:v>39500</c:v>
                </c:pt>
                <c:pt idx="8">
                  <c:v>29000</c:v>
                </c:pt>
                <c:pt idx="9">
                  <c:v>42000</c:v>
                </c:pt>
                <c:pt idx="10">
                  <c:v>24500</c:v>
                </c:pt>
                <c:pt idx="11">
                  <c:v>20000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4-1.png"/><Relationship Id="rId3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智能定价票务平台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面向乐园运营管理层的动态定价决策系统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3840480"/>
            <a:ext cx="54864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多维动态定价</a:t>
            </a:r>
            <a:pPr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套餐组合优化</a:t>
            </a:r>
            <a:pPr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市场预警</a:t>
            </a:r>
            <a:pPr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AI叙事日报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Hexi  |  初赛方案答辩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698480" y="60350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59E0B"/>
                </a:solidFill>
              </a:rPr>
              <a:t>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</a:rPr>
              <a:t>乐园运营的四大定价痛点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现有票务体系无法灵敏应对多维变化,运营决策依赖经验,收入与体验长期博弈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074920" cy="2286000"/>
          </a:xfrm>
          <a:prstGeom prst="rect">
            <a:avLst/>
          </a:prstGeom>
          <a:solidFill>
            <a:srgbClr val="E8F1F5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28800"/>
            <a:ext cx="109728" cy="228600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1488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0" y="20574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783080" y="2194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</a:rPr>
              <a:t>季节性波动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097280" y="292608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淡旺季客流差异可达5-8倍,固定票价导致淡季资源浪费、旺季体验下滑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55080" y="1828800"/>
            <a:ext cx="5074920" cy="2286000"/>
          </a:xfrm>
          <a:prstGeom prst="rect">
            <a:avLst/>
          </a:prstGeom>
          <a:solidFill>
            <a:srgbClr val="E8F1F5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55080" y="1828800"/>
            <a:ext cx="109728" cy="228600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14884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652760" y="20574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200" dirty="0"/>
          </a:p>
        </p:txBody>
      </p:sp>
      <p:sp>
        <p:nvSpPr>
          <p:cNvPr id="14" name="Text 10"/>
          <p:cNvSpPr/>
          <p:nvPr/>
        </p:nvSpPr>
        <p:spPr>
          <a:xfrm>
            <a:off x="7406640" y="2194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</a:rPr>
              <a:t>天气敏感性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6720840" y="292608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雨天/极端天气致客流骤降30%+,缺乏快速响应机制,当日营收损失可观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731520" y="4389120"/>
            <a:ext cx="5074920" cy="2286000"/>
          </a:xfrm>
          <a:prstGeom prst="rect">
            <a:avLst/>
          </a:prstGeom>
          <a:solidFill>
            <a:srgbClr val="E8F1F5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1520" y="4389120"/>
            <a:ext cx="109728" cy="228600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709160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29200" y="4617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200" dirty="0"/>
          </a:p>
        </p:txBody>
      </p:sp>
      <p:sp>
        <p:nvSpPr>
          <p:cNvPr id="20" name="Text 15"/>
          <p:cNvSpPr/>
          <p:nvPr/>
        </p:nvSpPr>
        <p:spPr>
          <a:xfrm>
            <a:off x="1783080" y="4754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</a:rPr>
              <a:t>节假日高峰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1097280" y="548640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黄金周单日负载超90%,拥堵严重;工作日负载低于30%,单客毛利走低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355080" y="4389120"/>
            <a:ext cx="5074920" cy="2286000"/>
          </a:xfrm>
          <a:prstGeom prst="rect">
            <a:avLst/>
          </a:prstGeom>
          <a:solidFill>
            <a:srgbClr val="E8F1F5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355080" y="4389120"/>
            <a:ext cx="109728" cy="228600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4709160"/>
            <a:ext cx="548640" cy="5486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652760" y="4617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200" dirty="0"/>
          </a:p>
        </p:txBody>
      </p:sp>
      <p:sp>
        <p:nvSpPr>
          <p:cNvPr id="26" name="Text 20"/>
          <p:cNvSpPr/>
          <p:nvPr/>
        </p:nvSpPr>
        <p:spPr>
          <a:xfrm>
            <a:off x="7406640" y="4754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</a:rPr>
              <a:t>客流结构失衡</a:t>
            </a:r>
            <a:endParaRPr lang="en-US" sz="2000" dirty="0"/>
          </a:p>
        </p:txBody>
      </p:sp>
      <p:sp>
        <p:nvSpPr>
          <p:cNvPr id="27" name="Text 21"/>
          <p:cNvSpPr/>
          <p:nvPr/>
        </p:nvSpPr>
        <p:spPr>
          <a:xfrm>
            <a:off x="6720840" y="548640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门票、餐饮、二次消费缺乏联动,难以按客群分层制定组合策略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</a:rPr>
              <a:t>解决方案 · 一个平台、四大模块、三路AI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86868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运营看板层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190195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1F5"/>
                </a:solidFill>
              </a:rPr>
              <a:t>数据看板 · 定价建议 · 市场预警 · 策略复盘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8686800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定价引擎层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18211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1F5"/>
                </a:solidFill>
              </a:rPr>
              <a:t>业务规则  +  ML需求预测  +  RL动态定价  +  套餐优化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931920"/>
            <a:ext cx="8686800" cy="1005840"/>
          </a:xfrm>
          <a:prstGeom prst="rect">
            <a:avLst/>
          </a:prstGeom>
          <a:solidFill>
            <a:srgbClr val="3A8FA6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4069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监控预警层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446227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1F5"/>
                </a:solidFill>
              </a:rPr>
              <a:t>天气预报 · 竞品价格 · 节假日 · 异常流量检测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5212080"/>
            <a:ext cx="8686800" cy="1005840"/>
          </a:xfrm>
          <a:prstGeom prst="rect">
            <a:avLst/>
          </a:prstGeom>
          <a:solidFill>
            <a:srgbClr val="6FA9BC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5349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数据层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574243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1F5"/>
                </a:solidFill>
              </a:rPr>
              <a:t>历史销售 · 客流数据 · 二次消费 · 外部数据源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0" y="2423160"/>
            <a:ext cx="0" cy="18288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29200" y="3703320"/>
            <a:ext cx="0" cy="18288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029200" y="4983480"/>
            <a:ext cx="0" cy="18288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784080" y="1371600"/>
            <a:ext cx="1737360" cy="4846320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19" name="Text 17"/>
          <p:cNvSpPr/>
          <p:nvPr/>
        </p:nvSpPr>
        <p:spPr>
          <a:xfrm>
            <a:off x="9875520" y="1508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</a:rPr>
              <a:t>AI技术栈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921240" y="1965960"/>
            <a:ext cx="14630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21240" y="19659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5A82"/>
                </a:solidFill>
              </a:rPr>
              <a:t>LightGBM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921240" y="2468880"/>
            <a:ext cx="14630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21240" y="24688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5A82"/>
                </a:solidFill>
              </a:rPr>
              <a:t>XGBoost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921240" y="2971800"/>
            <a:ext cx="14630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21240" y="29718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5A82"/>
                </a:solidFill>
              </a:rPr>
              <a:t>PPO 强化学习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921240" y="3474720"/>
            <a:ext cx="14630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21240" y="34747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5A82"/>
                </a:solidFill>
              </a:rPr>
              <a:t>GNN 图神经网络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921240" y="3977640"/>
            <a:ext cx="14630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21240" y="39776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5A82"/>
                </a:solidFill>
              </a:rPr>
              <a:t>Prophet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921240" y="4480560"/>
            <a:ext cx="14630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21240" y="44805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5A82"/>
                </a:solidFill>
              </a:rPr>
              <a:t>LLM (Claude)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921240" y="4983480"/>
            <a:ext cx="14630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921240" y="49834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5A82"/>
                </a:solidFill>
              </a:rPr>
              <a:t>FastAPI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921240" y="5486400"/>
            <a:ext cx="14630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921240" y="54864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5A82"/>
                </a:solidFill>
              </a:rPr>
              <a:t>Streamlit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模块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</a:rPr>
              <a:t>数据看板与叙事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将复杂的销售/客流数据转化为直观的趋势图、机会点提示,支持管理层自然语言提问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1089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3108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</a:rPr>
              <a:t>关键能力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365760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实时客流/收入趋势追踪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自动生成机会点叙事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交互式下钻(按日期/客群/渠道)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历史回测与策略复盘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846320" y="457200"/>
            <a:ext cx="6675120" cy="5943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0" y="640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</a:rPr>
              <a:t>🎢 示例乐园 · 运营看板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029200" y="1234440"/>
            <a:ext cx="2011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16636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日均客流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166360" y="1600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</a:rPr>
              <a:t>23,568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5166360" y="2057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人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223760" y="1234440"/>
            <a:ext cx="2011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6092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总收入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360920" y="1600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</a:rPr>
              <a:t>¥1,456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7360920" y="2057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万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9418320" y="1234440"/>
            <a:ext cx="2011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55548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负载率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555480" y="1600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58.9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9555480" y="2057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%</a:t>
            </a:r>
            <a:endParaRPr lang="en-US" sz="10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5029200" y="2514600"/>
          <a:ext cx="621792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Shape 19"/>
          <p:cNvSpPr/>
          <p:nvPr/>
        </p:nvSpPr>
        <p:spPr>
          <a:xfrm>
            <a:off x="5029200" y="4800600"/>
            <a:ext cx="6217920" cy="1463040"/>
          </a:xfrm>
          <a:prstGeom prst="rect">
            <a:avLst/>
          </a:prstGeom>
          <a:solidFill>
            <a:srgbClr val="FEF3C7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4937760"/>
            <a:ext cx="320040" cy="32004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532120" y="4892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</a:rPr>
              <a:t>AI 机会点提示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5166360" y="52578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</a:rPr>
              <a:t>近7日工作日负载率仅 32%,远低于周末 78%。建议推出【周中家庭早鸟票】并联动OTA引流,预计可挽回客流 25%+,周中收入提升约 ¥180 万/月。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模块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</a:rPr>
              <a:t>定价与产品决策引擎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三路信号融合 · 业务规则保底、ML需求曲线寻优、RL长期均衡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310896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194560"/>
            <a:ext cx="3108960" cy="9144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4231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423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业务规则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508760" y="26974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可解释 · 安全兜底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063240" y="2331720"/>
            <a:ext cx="685800" cy="320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8"/>
          <p:cNvSpPr/>
          <p:nvPr/>
        </p:nvSpPr>
        <p:spPr>
          <a:xfrm>
            <a:off x="3063240" y="233172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权重 30%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05840" y="310896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节假日 / 黄金周系数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天气调整(雨天、高温)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价格上下限约束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单日浮动 ±30% 保护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0" y="2194560"/>
            <a:ext cx="310896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0" y="2194560"/>
            <a:ext cx="3108960" cy="9144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42316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49240" y="2423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ML 需求曲线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5349240" y="26974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数据驱动 · 寻找最优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903720" y="2331720"/>
            <a:ext cx="6858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5"/>
          <p:cNvSpPr/>
          <p:nvPr/>
        </p:nvSpPr>
        <p:spPr>
          <a:xfrm>
            <a:off x="6903720" y="233172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权重 45%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4846320" y="310896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LightGBM 客流预测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扫描全价格区间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收入最大化 - 拥堵惩罚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MAPE 7.65%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8412480" y="2194560"/>
            <a:ext cx="310896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3A8FA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412480" y="2194560"/>
            <a:ext cx="3108960" cy="91440"/>
          </a:xfrm>
          <a:prstGeom prst="rect">
            <a:avLst/>
          </a:prstGeom>
          <a:solidFill>
            <a:srgbClr val="3A8FA6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2423160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189720" y="2423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RL 智能体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9189720" y="26974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长期均衡 · 策略学习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10744200" y="2331720"/>
            <a:ext cx="685800" cy="320040"/>
          </a:xfrm>
          <a:prstGeom prst="rect">
            <a:avLst/>
          </a:prstGeom>
          <a:solidFill>
            <a:srgbClr val="3A8FA6"/>
          </a:solidFill>
          <a:ln/>
        </p:spPr>
      </p:sp>
      <p:sp>
        <p:nvSpPr>
          <p:cNvPr id="27" name="Text 22"/>
          <p:cNvSpPr/>
          <p:nvPr/>
        </p:nvSpPr>
        <p:spPr>
          <a:xfrm>
            <a:off x="10744200" y="233172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权重 25%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8686800" y="310896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Q-Learning / PPO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状态: 日期×天气×竞品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奖励: 收入+二消-拥堵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自动探索利用平衡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731520" y="5852160"/>
            <a:ext cx="10698480" cy="6400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0" name="Text 25"/>
          <p:cNvSpPr/>
          <p:nvPr/>
        </p:nvSpPr>
        <p:spPr>
          <a:xfrm>
            <a:off x="731520" y="58521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🎯  综合决策: 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推荐票价 = 0.30 × 业务规则价 + 0.45 × ML最优价 + 0.25 × RL推荐价</a:t>
            </a:r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</a:rPr>
              <a:t>   +  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XAI决策解释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</a:rPr>
              <a:t>动态定价 · 5个核心影响维度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基于历史数据 benchmark 与特征重要性分析,筛选出最关键的5维,覆盖 &gt;85% 的定价解释力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10698480" cy="777240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202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98424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4028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时间维度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240280" y="21854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工作日 / 周末 / 节假日 / 黄金周 / 季节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217920" y="17830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日历 + 历史销售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9052560" y="2103120"/>
            <a:ext cx="2011680" cy="1371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9"/>
          <p:cNvSpPr/>
          <p:nvPr/>
        </p:nvSpPr>
        <p:spPr>
          <a:xfrm>
            <a:off x="9052560" y="2103120"/>
            <a:ext cx="183925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0"/>
          <p:cNvSpPr/>
          <p:nvPr/>
        </p:nvSpPr>
        <p:spPr>
          <a:xfrm>
            <a:off x="9052560" y="1828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32%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31520" y="2697480"/>
            <a:ext cx="1069848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914400" y="28346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2898648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240280" y="2788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天气维度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2240280" y="30998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温度 / 降水 / 极端天气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217920" y="26974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和风天气 API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9052560" y="3017520"/>
            <a:ext cx="2011680" cy="1371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Shape 18"/>
          <p:cNvSpPr/>
          <p:nvPr/>
        </p:nvSpPr>
        <p:spPr>
          <a:xfrm>
            <a:off x="9052560" y="3017520"/>
            <a:ext cx="1379438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19"/>
          <p:cNvSpPr/>
          <p:nvPr/>
        </p:nvSpPr>
        <p:spPr>
          <a:xfrm>
            <a:off x="9052560" y="27432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24%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731520" y="3611880"/>
            <a:ext cx="10698480" cy="777240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25" name="Shape 21"/>
          <p:cNvSpPr/>
          <p:nvPr/>
        </p:nvSpPr>
        <p:spPr>
          <a:xfrm>
            <a:off x="914400" y="37490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2"/>
          <p:cNvSpPr/>
          <p:nvPr/>
        </p:nvSpPr>
        <p:spPr>
          <a:xfrm>
            <a:off x="91440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3813048"/>
            <a:ext cx="365760" cy="36576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2240280" y="3703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客群维度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2240280" y="40142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家庭 / 年轻 / 团体 / 商务 VIP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6217920" y="36118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订单画像 + CRM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9052560" y="3931920"/>
            <a:ext cx="2011680" cy="1371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Shape 27"/>
          <p:cNvSpPr/>
          <p:nvPr/>
        </p:nvSpPr>
        <p:spPr>
          <a:xfrm>
            <a:off x="9052560" y="3931920"/>
            <a:ext cx="1034578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28"/>
          <p:cNvSpPr/>
          <p:nvPr/>
        </p:nvSpPr>
        <p:spPr>
          <a:xfrm>
            <a:off x="9052560" y="3657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18%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731520" y="4526280"/>
            <a:ext cx="1069848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0"/>
          <p:cNvSpPr/>
          <p:nvPr/>
        </p:nvSpPr>
        <p:spPr>
          <a:xfrm>
            <a:off x="914400" y="46634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6" name="Text 31"/>
          <p:cNvSpPr/>
          <p:nvPr/>
        </p:nvSpPr>
        <p:spPr>
          <a:xfrm>
            <a:off x="91440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" y="4727448"/>
            <a:ext cx="365760" cy="36576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2240280" y="4617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需求弹性</a:t>
            </a:r>
            <a:endParaRPr lang="en-US" sz="1600" dirty="0"/>
          </a:p>
        </p:txBody>
      </p:sp>
      <p:sp>
        <p:nvSpPr>
          <p:cNvPr id="39" name="Text 33"/>
          <p:cNvSpPr/>
          <p:nvPr/>
        </p:nvSpPr>
        <p:spPr>
          <a:xfrm>
            <a:off x="2240280" y="49286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历史价格-销量曲线、交叉弹性</a:t>
            </a:r>
            <a:endParaRPr lang="en-US" sz="1100" dirty="0"/>
          </a:p>
        </p:txBody>
      </p:sp>
      <p:sp>
        <p:nvSpPr>
          <p:cNvPr id="40" name="Text 34"/>
          <p:cNvSpPr/>
          <p:nvPr/>
        </p:nvSpPr>
        <p:spPr>
          <a:xfrm>
            <a:off x="6217920" y="45262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自建弹性矩阵</a:t>
            </a:r>
            <a:endParaRPr lang="en-US" sz="1100" dirty="0"/>
          </a:p>
        </p:txBody>
      </p:sp>
      <p:sp>
        <p:nvSpPr>
          <p:cNvPr id="41" name="Shape 35"/>
          <p:cNvSpPr/>
          <p:nvPr/>
        </p:nvSpPr>
        <p:spPr>
          <a:xfrm>
            <a:off x="9052560" y="4846320"/>
            <a:ext cx="2011680" cy="1371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Shape 36"/>
          <p:cNvSpPr/>
          <p:nvPr/>
        </p:nvSpPr>
        <p:spPr>
          <a:xfrm>
            <a:off x="9052560" y="4846320"/>
            <a:ext cx="80467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3" name="Text 37"/>
          <p:cNvSpPr/>
          <p:nvPr/>
        </p:nvSpPr>
        <p:spPr>
          <a:xfrm>
            <a:off x="9052560" y="45720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14%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731520" y="5440680"/>
            <a:ext cx="10698480" cy="777240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45" name="Shape 39"/>
          <p:cNvSpPr/>
          <p:nvPr/>
        </p:nvSpPr>
        <p:spPr>
          <a:xfrm>
            <a:off x="914400" y="55778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6" name="Text 40"/>
          <p:cNvSpPr/>
          <p:nvPr/>
        </p:nvSpPr>
        <p:spPr>
          <a:xfrm>
            <a:off x="914400" y="5577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1640" y="5641848"/>
            <a:ext cx="365760" cy="365760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2240280" y="5532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竞品与宏观</a:t>
            </a:r>
            <a:endParaRPr lang="en-US" sz="1600" dirty="0"/>
          </a:p>
        </p:txBody>
      </p:sp>
      <p:sp>
        <p:nvSpPr>
          <p:cNvPr id="49" name="Text 42"/>
          <p:cNvSpPr/>
          <p:nvPr/>
        </p:nvSpPr>
        <p:spPr>
          <a:xfrm>
            <a:off x="2240280" y="58430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周边乐园价格 / 区域景气</a:t>
            </a:r>
            <a:endParaRPr lang="en-US" sz="1100" dirty="0"/>
          </a:p>
        </p:txBody>
      </p:sp>
      <p:sp>
        <p:nvSpPr>
          <p:cNvPr id="50" name="Text 43"/>
          <p:cNvSpPr/>
          <p:nvPr/>
        </p:nvSpPr>
        <p:spPr>
          <a:xfrm>
            <a:off x="6217920" y="54406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竞品爬虫 + 宏观数据</a:t>
            </a:r>
            <a:endParaRPr lang="en-US" sz="1100" dirty="0"/>
          </a:p>
        </p:txBody>
      </p:sp>
      <p:sp>
        <p:nvSpPr>
          <p:cNvPr id="51" name="Shape 44"/>
          <p:cNvSpPr/>
          <p:nvPr/>
        </p:nvSpPr>
        <p:spPr>
          <a:xfrm>
            <a:off x="9052560" y="5760720"/>
            <a:ext cx="2011680" cy="1371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Shape 45"/>
          <p:cNvSpPr/>
          <p:nvPr/>
        </p:nvSpPr>
        <p:spPr>
          <a:xfrm>
            <a:off x="9052560" y="5760720"/>
            <a:ext cx="689719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3" name="Text 46"/>
          <p:cNvSpPr/>
          <p:nvPr/>
        </p:nvSpPr>
        <p:spPr>
          <a:xfrm>
            <a:off x="9052560" y="5486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12%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</a:rPr>
              <a:t>AI 技术路径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机器学习 + 强化学习 + NLP + GNN 多技术融合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50749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01168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1115568" y="212140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21284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0240" y="2011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</a:rPr>
              <a:t>ML 需求预测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920240" y="2377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5A82"/>
                </a:solidFill>
              </a:rPr>
              <a:t>LightGBM / XGBoost / Prophet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005840" y="2926080"/>
            <a:ext cx="4480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30175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基于历史销售、天气、日期等多维特征,预测目标日期客流与二消。输出需求-价格曲线,供定价引擎寻找收入最大化点。验证集 MAPE 7.65%。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355080" y="1737360"/>
            <a:ext cx="50749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29400" y="20116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Shape 11"/>
          <p:cNvSpPr/>
          <p:nvPr/>
        </p:nvSpPr>
        <p:spPr>
          <a:xfrm>
            <a:off x="6739128" y="212140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568" y="2212848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543800" y="2011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</a:rPr>
              <a:t>RL 动态定价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7543800" y="2377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</a:rPr>
              <a:t>PPO / Q-Learning (Stable-Baselines3)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629400" y="2926080"/>
            <a:ext cx="4480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629400" y="30175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状态:日期×天气×竞品;动作:离散化票价档位;奖励:门票+α·二消-β·(负载率-最优)²。支持在线学习,长期优化收入+体验均衡。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731520" y="4206240"/>
            <a:ext cx="50749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1005840" y="4480560"/>
            <a:ext cx="731520" cy="731520"/>
          </a:xfrm>
          <a:prstGeom prst="ellipse">
            <a:avLst/>
          </a:prstGeom>
          <a:solidFill>
            <a:srgbClr val="3A8FA6"/>
          </a:solidFill>
          <a:ln/>
        </p:spPr>
      </p:sp>
      <p:sp>
        <p:nvSpPr>
          <p:cNvPr id="22" name="Shape 18"/>
          <p:cNvSpPr/>
          <p:nvPr/>
        </p:nvSpPr>
        <p:spPr>
          <a:xfrm>
            <a:off x="1115568" y="459028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4681728"/>
            <a:ext cx="329184" cy="32918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920240" y="4480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</a:rPr>
              <a:t>NLP 叙事日报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1920240" y="4846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A8FA6"/>
                </a:solidFill>
              </a:rPr>
              <a:t>Claude API · 模板 + LLM 双模式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1005840" y="5394960"/>
            <a:ext cx="4480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1005840" y="54864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自动生成每日运营简报、机会点提示、周/月报。支持管理层自然语言提问("下周加价日有哪些?")。默认模板模式零依赖,可升级LLM。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6355080" y="4206240"/>
            <a:ext cx="50749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629400" y="4480560"/>
            <a:ext cx="731520" cy="731520"/>
          </a:xfrm>
          <a:prstGeom prst="ellipse">
            <a:avLst/>
          </a:prstGeom>
          <a:solidFill>
            <a:srgbClr val="6FA9BC"/>
          </a:solidFill>
          <a:ln/>
        </p:spPr>
      </p:sp>
      <p:sp>
        <p:nvSpPr>
          <p:cNvPr id="30" name="Shape 25"/>
          <p:cNvSpPr/>
          <p:nvPr/>
        </p:nvSpPr>
        <p:spPr>
          <a:xfrm>
            <a:off x="6739128" y="459028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568" y="4681728"/>
            <a:ext cx="329184" cy="32918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543800" y="4480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</a:rPr>
              <a:t>GNN 因素关联(预留)</a:t>
            </a:r>
            <a:endParaRPr lang="en-US" sz="1700" dirty="0"/>
          </a:p>
        </p:txBody>
      </p:sp>
      <p:sp>
        <p:nvSpPr>
          <p:cNvPr id="33" name="Text 27"/>
          <p:cNvSpPr/>
          <p:nvPr/>
        </p:nvSpPr>
        <p:spPr>
          <a:xfrm>
            <a:off x="7543800" y="4846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FA9BC"/>
                </a:solidFill>
              </a:rPr>
              <a:t>PyTorch Geometric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6629400" y="5394960"/>
            <a:ext cx="4480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6629400" y="54864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将景点、项目、客群构建为异构图,学习项目间客流迁移、套餐搭配关系。用于套餐组合优化与路径引导推荐,缓解热门项目排队。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</a:rPr>
              <a:t>市场监控预警 + 套餐组合优化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</a:rPr>
              <a:t>模块 03 · 市场监控预警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303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91440" cy="7772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9164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🔴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737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</a:rPr>
              <a:t>容量预警 · 高负载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2057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预计负载率 92%,需启动分时预约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514600"/>
            <a:ext cx="5303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514600"/>
            <a:ext cx="91440" cy="7772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56032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2606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</a:rPr>
              <a:t>天气预警 · 强降雨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2926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降雨概率 75%,上线【雨天特惠】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383280"/>
            <a:ext cx="5303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383280"/>
            <a:ext cx="91440" cy="7772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42900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🟡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3474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</a:rPr>
              <a:t>竞品预警 · 降价冲击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71600" y="3794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周边均价 -12%,评估差异化策略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4251960"/>
            <a:ext cx="5303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251960"/>
            <a:ext cx="91440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29768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🔵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71600" y="4343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</a:rPr>
              <a:t>运营状态正常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71600" y="4663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维持当前定价,持续监控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0" y="11887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</a:rPr>
              <a:t>模块 04 · 套餐组合优化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217920" y="1645920"/>
            <a:ext cx="5212080" cy="777240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</a:rPr>
              <a:t>雨天特惠 · 室内优先券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55080" y="2057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家庭亲子 · 雨天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646920" y="1755648"/>
            <a:ext cx="777240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9646920" y="175564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88折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469880" y="1755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+18%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646920" y="20848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预期提振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217920" y="2514600"/>
            <a:ext cx="5212080" cy="777240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33" name="Text 31"/>
          <p:cNvSpPr/>
          <p:nvPr/>
        </p:nvSpPr>
        <p:spPr>
          <a:xfrm>
            <a:off x="6355080" y="2560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</a:rPr>
              <a:t>夜场避暑套票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55080" y="2926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年轻客群 · 高温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646920" y="2624328"/>
            <a:ext cx="777240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6" name="Text 34"/>
          <p:cNvSpPr/>
          <p:nvPr/>
        </p:nvSpPr>
        <p:spPr>
          <a:xfrm>
            <a:off x="9646920" y="26243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70折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469880" y="2624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+25%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646920" y="29535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预期提振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217920" y="3383280"/>
            <a:ext cx="5212080" cy="777240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40" name="Text 38"/>
          <p:cNvSpPr/>
          <p:nvPr/>
        </p:nvSpPr>
        <p:spPr>
          <a:xfrm>
            <a:off x="6355080" y="3429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</a:rPr>
              <a:t>工作日早鸟家庭票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355080" y="3794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家庭 · 工作日淡峰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646920" y="3493008"/>
            <a:ext cx="777240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3" name="Text 41"/>
          <p:cNvSpPr/>
          <p:nvPr/>
        </p:nvSpPr>
        <p:spPr>
          <a:xfrm>
            <a:off x="9646920" y="349300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75折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469880" y="34930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+30%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646920" y="38221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预期提振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217920" y="4251960"/>
            <a:ext cx="5212080" cy="777240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47" name="Text 45"/>
          <p:cNvSpPr/>
          <p:nvPr/>
        </p:nvSpPr>
        <p:spPr>
          <a:xfrm>
            <a:off x="6355080" y="4297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</a:rPr>
              <a:t>黄金周 VIP 尊享套餐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355080" y="4663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VIP · 旺日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9646920" y="4361688"/>
            <a:ext cx="777240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0" name="Text 48"/>
          <p:cNvSpPr/>
          <p:nvPr/>
        </p:nvSpPr>
        <p:spPr>
          <a:xfrm>
            <a:off x="9646920" y="43616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溢价35%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0469880" y="43616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+12%客单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9646920" y="46908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预期提振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731520" y="5257800"/>
            <a:ext cx="10698480" cy="12344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54" name="Text 52"/>
          <p:cNvSpPr/>
          <p:nvPr/>
        </p:nvSpPr>
        <p:spPr>
          <a:xfrm>
            <a:off x="731520" y="53492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🔄  监控 → 预警 → 策略 → 执行 → 复盘  的闭环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外部信号实时监控 → 触发分级预警 → 匹配套餐/定价策略 → 自动推送运营 → 结果回流模型再学习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731520" y="61722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让 AI 不只是给建议,而是参与完整的运营决策循环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可选 · GAI 应用畅想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AI 运营助理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</a:rPr>
              <a:t>从数据看板到对话式决策 —— 生成式AI 深度赋能运营工作流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6583680" cy="3931920"/>
          </a:xfrm>
          <a:prstGeom prst="rect">
            <a:avLst/>
          </a:prstGeom>
          <a:solidFill>
            <a:srgbClr val="15214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606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💬 自然语言对话示例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3063240"/>
            <a:ext cx="45720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2651760" y="30632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下周客流高峰日有哪些?该加价吗?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3611880"/>
            <a:ext cx="502920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6576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下周五/六/日为3个高峰日,预计负载率分别 82% / 91% / 87%。建议票价从¥299上浮至¥380,并配合快速通道¥80附加销售,预计单客毛利提升 42%。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4617720"/>
            <a:ext cx="45720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46177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明天有雨,该怎么应对?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5166360"/>
            <a:ext cx="5029200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521208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明天降雨概率 75%,预计客流下降30%。已为您启动【雨天特惠+室内项目优先券】(门票88折),推送OTA/抖音/社群,预计挽回客流 18%,避免收入损失约 ¥45 万元。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680960" y="2606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核心能力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80960" y="30632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183880" y="3108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日报/周报/月报自动生成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83880" y="335584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</a:rPr>
              <a:t>零人工撰写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680960" y="372160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183880" y="37673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机会点主动提示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83880" y="40142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</a:rPr>
              <a:t>从数据中提炼洞察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680960" y="437997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183880" y="44256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自然语言提问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83880" y="467258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</a:rPr>
              <a:t>管理层无需SQL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680960" y="503834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183880" y="5084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套餐文案自动生成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83880" y="53309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</a:rPr>
              <a:t>适配不同客群语气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680960" y="569671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📣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183880" y="57424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多渠道推送整合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183880" y="59893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</a:rPr>
              <a:t>OTA/社群/站内消息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</a:rPr>
              <a:t>价值总结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一套 AI 平台,双重目标达成 —— 游客体验与园区收入同步提升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5212080" cy="3200400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783080"/>
            <a:ext cx="521208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65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</a:rPr>
              <a:t>🎢  对游客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</a:rPr>
              <a:t>-35%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286000" y="2606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</a:rPr>
              <a:t>平均排队时长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0" y="2880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分时预约 + 错峰套餐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32918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</a:rPr>
              <a:t>+25%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286000" y="3337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</a:rPr>
              <a:t>满意度 NPS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0" y="3611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天气自适应体验保障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40233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</a:rPr>
              <a:t>+40%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286000" y="4069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</a:rPr>
              <a:t>个性化匹配度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86000" y="4343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按客群分层推荐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783080"/>
            <a:ext cx="5212080" cy="3200400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0" y="1783080"/>
            <a:ext cx="521208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965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</a:rPr>
              <a:t>💰  对园区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00800" y="25603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+12%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772400" y="2606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</a:rPr>
              <a:t>总收入提升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0" y="2880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动态定价 + 套餐优化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32918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+18%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772400" y="3337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</a:rPr>
              <a:t>二次消费占比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0" y="3611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组合策略推动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40233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-60%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772400" y="4069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</a:rPr>
              <a:t>运营决策耗时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772400" y="4343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AI自动生成建议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5257800"/>
            <a:ext cx="10698480" cy="12801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3492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10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731520" y="59893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59E0B"/>
                </a:solidFill>
              </a:rPr>
              <a:t>期待答辩交流  ·  AI 智能定价票务平台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AI智能定价票务平台</dc:title>
  <dc:subject>PptxGenJS Presentation</dc:subject>
  <dc:creator>Hexi</dc:creator>
  <cp:lastModifiedBy>Hexi</cp:lastModifiedBy>
  <cp:revision>1</cp:revision>
  <dcterms:created xsi:type="dcterms:W3CDTF">2026-04-16T13:33:33Z</dcterms:created>
  <dcterms:modified xsi:type="dcterms:W3CDTF">2026-04-16T13:33:33Z</dcterms:modified>
</cp:coreProperties>
</file>