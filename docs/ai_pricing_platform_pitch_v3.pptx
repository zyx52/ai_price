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1295C"/>
                </a:solidFill>
                <a:latin typeface="Arial"/>
              </a:rPr>
              <a:t>月度客流趋势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客流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18500</c:v>
                </c:pt>
                <c:pt idx="1">
                  <c:v>16200</c:v>
                </c:pt>
                <c:pt idx="2">
                  <c:v>22000</c:v>
                </c:pt>
                <c:pt idx="3">
                  <c:v>24500</c:v>
                </c:pt>
                <c:pt idx="4">
                  <c:v>31000</c:v>
                </c:pt>
                <c:pt idx="5">
                  <c:v>33500</c:v>
                </c:pt>
                <c:pt idx="6">
                  <c:v>38000</c:v>
                </c:pt>
                <c:pt idx="7">
                  <c:v>39500</c:v>
                </c:pt>
                <c:pt idx="8">
                  <c:v>29000</c:v>
                </c:pt>
                <c:pt idx="9">
                  <c:v>42000</c:v>
                </c:pt>
                <c:pt idx="10">
                  <c:v>24500</c:v>
                </c:pt>
                <c:pt idx="11">
                  <c:v>20000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 (乐观)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¥150</c:v>
                  </c:pt>
                  <c:pt idx="1">
                    <c:v>¥200</c:v>
                  </c:pt>
                  <c:pt idx="2">
                    <c:v>¥250</c:v>
                  </c:pt>
                  <c:pt idx="3">
                    <c:v>¥300</c:v>
                  </c:pt>
                  <c:pt idx="4">
                    <c:v>¥350</c:v>
                  </c:pt>
                  <c:pt idx="5">
                    <c:v>¥400</c:v>
                  </c:pt>
                  <c:pt idx="6">
                    <c:v>¥450</c:v>
                  </c:pt>
                  <c:pt idx="7">
                    <c:v>¥500</c:v>
                  </c:pt>
                  <c:pt idx="8">
                    <c:v>¥550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38000</c:v>
                </c:pt>
                <c:pt idx="1">
                  <c:v>35000</c:v>
                </c:pt>
                <c:pt idx="2">
                  <c:v>31000</c:v>
                </c:pt>
                <c:pt idx="3">
                  <c:v>27000</c:v>
                </c:pt>
                <c:pt idx="4">
                  <c:v>23000</c:v>
                </c:pt>
                <c:pt idx="5">
                  <c:v>19500</c:v>
                </c:pt>
                <c:pt idx="6">
                  <c:v>17000</c:v>
                </c:pt>
                <c:pt idx="7">
                  <c:v>15500</c:v>
                </c:pt>
                <c:pt idx="8">
                  <c:v>14000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 (中位)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¥150</c:v>
                  </c:pt>
                  <c:pt idx="1">
                    <c:v>¥200</c:v>
                  </c:pt>
                  <c:pt idx="2">
                    <c:v>¥250</c:v>
                  </c:pt>
                  <c:pt idx="3">
                    <c:v>¥300</c:v>
                  </c:pt>
                  <c:pt idx="4">
                    <c:v>¥350</c:v>
                  </c:pt>
                  <c:pt idx="5">
                    <c:v>¥400</c:v>
                  </c:pt>
                  <c:pt idx="6">
                    <c:v>¥450</c:v>
                  </c:pt>
                  <c:pt idx="7">
                    <c:v>¥500</c:v>
                  </c:pt>
                  <c:pt idx="8">
                    <c:v>¥550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32000</c:v>
                </c:pt>
                <c:pt idx="1">
                  <c:v>28500</c:v>
                </c:pt>
                <c:pt idx="2">
                  <c:v>25000</c:v>
                </c:pt>
                <c:pt idx="3">
                  <c:v>21500</c:v>
                </c:pt>
                <c:pt idx="4">
                  <c:v>18500</c:v>
                </c:pt>
                <c:pt idx="5">
                  <c:v>15500</c:v>
                </c:pt>
                <c:pt idx="6">
                  <c:v>13000</c:v>
                </c:pt>
                <c:pt idx="7">
                  <c:v>11500</c:v>
                </c:pt>
                <c:pt idx="8">
                  <c:v>10000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P10 (悲观)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¥150</c:v>
                  </c:pt>
                  <c:pt idx="1">
                    <c:v>¥200</c:v>
                  </c:pt>
                  <c:pt idx="2">
                    <c:v>¥250</c:v>
                  </c:pt>
                  <c:pt idx="3">
                    <c:v>¥300</c:v>
                  </c:pt>
                  <c:pt idx="4">
                    <c:v>¥350</c:v>
                  </c:pt>
                  <c:pt idx="5">
                    <c:v>¥400</c:v>
                  </c:pt>
                  <c:pt idx="6">
                    <c:v>¥450</c:v>
                  </c:pt>
                  <c:pt idx="7">
                    <c:v>¥500</c:v>
                  </c:pt>
                  <c:pt idx="8">
                    <c:v>¥550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26000</c:v>
                </c:pt>
                <c:pt idx="1">
                  <c:v>22500</c:v>
                </c:pt>
                <c:pt idx="2">
                  <c:v>19000</c:v>
                </c:pt>
                <c:pt idx="3">
                  <c:v>16500</c:v>
                </c:pt>
                <c:pt idx="4">
                  <c:v>14000</c:v>
                </c:pt>
                <c:pt idx="5">
                  <c:v>11500</c:v>
                </c:pt>
                <c:pt idx="6">
                  <c:v>9500</c:v>
                </c:pt>
                <c:pt idx="7">
                  <c:v>8000</c:v>
                </c:pt>
                <c:pt idx="8">
                  <c:v>6500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智能定价票务平台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面向乐园运营管理层的动态定价决策系统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多维动态定价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套餐组合优化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市场预警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AI叙事日报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0" y="457200"/>
            <a:ext cx="10972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0" y="457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v3.0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Hexi  |  初赛方案答辩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0" y="6035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</a:rPr>
              <a:t>乐园运营的四大定价痛点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现有票务体系无法灵敏应对多维变化,运营决策依赖经验,收入与体验长期博弈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78308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季节性波动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淡旺季客流差异可达5-8倍,固定票价导致淡季资源浪费、旺季体验下滑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2880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5276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40664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天气敏感性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720840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雨天/极端天气致客流骤降30%+,缺乏快速响应机制,当日营收损失可观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438912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38912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091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178308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节假日高峰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097280" y="5486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黄金周单日负载超90%,拥堵严重;工作日负载低于30%,单客毛利走低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55080" y="438912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38912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7091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5276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740664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客流结构失衡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720840" y="5486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门票、餐饮、二次消费缺乏联动,难以按客群分层制定组合策略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解决方案 · 一个平台、四大模块、三路AI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6868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运营看板层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数据看板 · 定价建议 · 市场预警 · 策略复盘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86868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定价引擎层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业务规则  +  ML需求预测  +  RL动态定价  +  套餐优化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8686800" cy="1005840"/>
          </a:xfrm>
          <a:prstGeom prst="rect">
            <a:avLst/>
          </a:prstGeom>
          <a:solidFill>
            <a:srgbClr val="3A8FA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监控预警层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462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天气预报 · 竞品价格 · 节假日 · 异常流量检测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212080"/>
            <a:ext cx="8686800" cy="1005840"/>
          </a:xfrm>
          <a:prstGeom prst="rect">
            <a:avLst/>
          </a:prstGeom>
          <a:solidFill>
            <a:srgbClr val="6FA9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数据层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742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历史销售 · 客流数据 · 二次消费 · 外部数据源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42316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370332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498348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84080" y="1371600"/>
            <a:ext cx="1737360" cy="48463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AI技术栈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21240" y="19659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965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LightGBM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21240" y="246888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XGBoost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297180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PPO 强化学习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21240" y="347472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3474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GNN 图神经网络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39776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Prophet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21240" y="44805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4480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LLM (Claude)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21240" y="498348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FastAPI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21240" y="548640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21240" y="5486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Streamlit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模块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数据看板与叙事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将复杂的销售/客流数据转化为直观的趋势图、机会点提示,支持管理层自然语言提问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08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关键能力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实时客流/收入趋势追踪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自动生成机会点叙事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交互式下钻(按日期/客群/渠道)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历史回测与策略复盘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457200"/>
            <a:ext cx="6675120" cy="5943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🎢 示例乐园 · 运营看板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日均客流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63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23,568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1663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2376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总收入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¥1,456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609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万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41832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554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负载率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5554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58.9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5554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%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9200" y="2514600"/>
          <a:ext cx="6217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5029200" y="4800600"/>
            <a:ext cx="6217920" cy="146304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9377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3212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AI 机会点提示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66360" y="5257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近7日工作日负载率仅 32%,远低于周末 78%。建议推出【周中家庭早鸟票】并联动OTA引流,预计可挽回客流 25%+,周中收入提升约 ¥180 万/月。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模块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定价与产品决策引擎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三路信号融合 · 业务规则保底、ML需求曲线寻优、RL长期均衡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108960" cy="914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业务规则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可解释 · 安全兜底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63240" y="2331720"/>
            <a:ext cx="6858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306324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30%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节假日 / 黄金周系数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天气调整(雨天、高温)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价格上下限约束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单日浮动 ±30% 保护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194560"/>
            <a:ext cx="3108960" cy="914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231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ML 需求曲线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4924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数据驱动 · 寻找最优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03720" y="2331720"/>
            <a:ext cx="6858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0372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45%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4632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LightGBM 客流预测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扫描全价格区间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收入最大化 - 拥堵惩罚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MAPE 7.65%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8F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194560"/>
            <a:ext cx="3108960" cy="91440"/>
          </a:xfrm>
          <a:prstGeom prst="rect">
            <a:avLst/>
          </a:prstGeom>
          <a:solidFill>
            <a:srgbClr val="3A8FA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897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RL 智能体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1897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长期均衡 · 策略学习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0744200" y="2331720"/>
            <a:ext cx="685800" cy="320040"/>
          </a:xfrm>
          <a:prstGeom prst="rect">
            <a:avLst/>
          </a:prstGeom>
          <a:solidFill>
            <a:srgbClr val="3A8FA6"/>
          </a:solidFill>
          <a:ln/>
        </p:spPr>
      </p:sp>
      <p:sp>
        <p:nvSpPr>
          <p:cNvPr id="27" name="Text 22"/>
          <p:cNvSpPr/>
          <p:nvPr/>
        </p:nvSpPr>
        <p:spPr>
          <a:xfrm>
            <a:off x="1074420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25%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68680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Q-Learning / PPO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状态: 日期×天气×竞品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奖励: 收入+二消-拥堵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自动探索利用平衡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🎯  综合决策: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推荐票价 = 0.30 × 业务规则价 + 0.45 × ML最优价 + 0.25 × RL推荐价</a:t>
            </a:r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   +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XAI决策解释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动态定价 · 5个核心影响维度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基于历史数据 benchmark 与特征重要性分析,筛选出最关键的5维,覆盖 &gt;85% 的定价解释力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842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时间维度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40280" y="2185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工作日 / 周末 / 节假日 / 黄金周 / 季节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日历 + 历史销售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52560" y="21031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9052560" y="2103120"/>
            <a:ext cx="183925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697480"/>
            <a:ext cx="10698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89864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天气维度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240280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温度 / 降水 / 极端天气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17920" y="2697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和风天气 API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052560" y="30175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8"/>
          <p:cNvSpPr/>
          <p:nvPr/>
        </p:nvSpPr>
        <p:spPr>
          <a:xfrm>
            <a:off x="9052560" y="3017520"/>
            <a:ext cx="1379438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905256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24%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31520" y="36118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5" name="Shape 21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81304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2402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客群维度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224028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家庭 / 年轻 / 团体 / 商务 VIP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1792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订单画像 + CRM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052560" y="39319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7"/>
          <p:cNvSpPr/>
          <p:nvPr/>
        </p:nvSpPr>
        <p:spPr>
          <a:xfrm>
            <a:off x="9052560" y="3931920"/>
            <a:ext cx="1034578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28"/>
          <p:cNvSpPr/>
          <p:nvPr/>
        </p:nvSpPr>
        <p:spPr>
          <a:xfrm>
            <a:off x="905256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18%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31520" y="4526280"/>
            <a:ext cx="10698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0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1"/>
          <p:cNvSpPr/>
          <p:nvPr/>
        </p:nvSpPr>
        <p:spPr>
          <a:xfrm>
            <a:off x="9144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4727448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224028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需求弹性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2240280" y="4928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历史价格-销量曲线、交叉弹性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217920" y="4526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自建弹性矩阵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052560" y="48463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6"/>
          <p:cNvSpPr/>
          <p:nvPr/>
        </p:nvSpPr>
        <p:spPr>
          <a:xfrm>
            <a:off x="9052560" y="4846320"/>
            <a:ext cx="80467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37"/>
          <p:cNvSpPr/>
          <p:nvPr/>
        </p:nvSpPr>
        <p:spPr>
          <a:xfrm>
            <a:off x="9052560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14%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5" name="Shape 39"/>
          <p:cNvSpPr/>
          <p:nvPr/>
        </p:nvSpPr>
        <p:spPr>
          <a:xfrm>
            <a:off x="914400" y="5577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0"/>
          <p:cNvSpPr/>
          <p:nvPr/>
        </p:nvSpPr>
        <p:spPr>
          <a:xfrm>
            <a:off x="91440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641848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24028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竞品与宏观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2240280" y="5843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周边乐园价格 / 区域景气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621792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竞品爬虫 + 宏观数据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052560" y="57607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5"/>
          <p:cNvSpPr/>
          <p:nvPr/>
        </p:nvSpPr>
        <p:spPr>
          <a:xfrm>
            <a:off x="9052560" y="5760720"/>
            <a:ext cx="689719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46"/>
          <p:cNvSpPr/>
          <p:nvPr/>
        </p:nvSpPr>
        <p:spPr>
          <a:xfrm>
            <a:off x="905256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12%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AI 技术路径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机器学习 + 强化学习 + NLP + GNN 多技术融合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121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ML 需求预测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LightGBM / XGBoost / Prophet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292608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基于历史销售、天气、日期等多维特征,预测目标日期客流与二消。输出需求-价格曲线,供定价引擎寻找收入最大化点。验证集 MAPE 7.65%。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6739128" y="2121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2128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RL 动态定价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438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PPO / Q-Learning (Stable-Baselines3)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629400" y="292608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状态:日期×天气×竞品;动作:离散化票价档位;奖励:门票+α·二消-β·(负载率-最优)²。支持在线学习,长期优化收入+体验均衡。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42062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05840" y="4480560"/>
            <a:ext cx="731520" cy="731520"/>
          </a:xfrm>
          <a:prstGeom prst="ellipse">
            <a:avLst/>
          </a:prstGeom>
          <a:solidFill>
            <a:srgbClr val="3A8FA6"/>
          </a:solidFill>
          <a:ln/>
        </p:spPr>
      </p:sp>
      <p:sp>
        <p:nvSpPr>
          <p:cNvPr id="22" name="Shape 18"/>
          <p:cNvSpPr/>
          <p:nvPr/>
        </p:nvSpPr>
        <p:spPr>
          <a:xfrm>
            <a:off x="1115568" y="45902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68172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2024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NLP 叙事日报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92024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8FA6"/>
                </a:solidFill>
              </a:rPr>
              <a:t>Claude API · 模板 + LLM 双模式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05840" y="539496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05840" y="5486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自动生成每日运营简报、机会点提示、周/月报。支持管理层自然语言提问。默认模板模式零依赖,可升级LLM。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55080" y="42062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29400" y="4480560"/>
            <a:ext cx="731520" cy="731520"/>
          </a:xfrm>
          <a:prstGeom prst="ellipse">
            <a:avLst/>
          </a:prstGeom>
          <a:solidFill>
            <a:srgbClr val="6FA9BC"/>
          </a:solidFill>
          <a:ln/>
        </p:spPr>
      </p:sp>
      <p:sp>
        <p:nvSpPr>
          <p:cNvPr id="30" name="Shape 25"/>
          <p:cNvSpPr/>
          <p:nvPr/>
        </p:nvSpPr>
        <p:spPr>
          <a:xfrm>
            <a:off x="6739128" y="45902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68172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4380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GNN 因素关联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54380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A9BC"/>
                </a:solidFill>
              </a:rPr>
              <a:t>PyTorch Geometric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629400" y="539496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629400" y="5486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将景点、项目、客群构建为异构图,学习项目间客流迁移、套餐搭配关系。用于套餐组合优化与路径引导推荐,缓解热门项目排队。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市场监控预警 + 套餐组合优化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模块 03 · 市场监控预警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914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容量预警 · 高负载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预计负载率 92%,需启动分时预约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14600"/>
            <a:ext cx="9144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天气预警 · 强降雨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降雨概率 75%,上线【雨天特惠】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83280"/>
            <a:ext cx="9144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290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竞品预警 · 降价冲击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周边均价 -12%,评估差异化策略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51960"/>
            <a:ext cx="9144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976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运营状态正常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维持当前定价,持续监控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模块 04 · 套餐组合优化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164592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雨天特惠 · 室内优先券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家庭亲子 · 雨天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46920" y="175564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9646920" y="1755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88折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6988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+18%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夜场避暑套票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年轻客群 · 高温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46920" y="262432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9646920" y="2624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6988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+25%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4692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38328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工作日早鸟家庭票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家庭 · 工作日淡峰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46920" y="349300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9646920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75折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6988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+30%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4692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17920" y="425196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黄金周 VIP 尊享套餐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5508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VIP · 旺日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46920" y="436168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9646920" y="4361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溢价35%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469880" y="4361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+12%客单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46920" y="4690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" y="5257800"/>
            <a:ext cx="10698480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🔄  监控 → 预警 → 策略 → 执行 → 复盘  的闭环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外部信号实时监控 → 触发分级预警 → 匹配套餐/定价策略 → 自动推送运营 → 结果回流模型再学习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让 AI 不只是给建议,而是参与完整的运营决策循环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V3 升级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从 Demo 到生产级 · 工程化深度升级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性能、安全、闭环 · 5项工程级改造,让平台具备真正的产线落地能力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11880" cy="182880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880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9626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FeatureService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459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特征中心 · 自动派生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520440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7+ 窗口特征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废除手动构造,统一管理滞后/滑动/竞品特征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2651760"/>
            <a:ext cx="3611880" cy="182880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2880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96265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Quantile + VaR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5321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分位数回归 · 风险价值定价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3520440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48463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P10/P50/P90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463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不确定性高时自动收敛保守价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503920" y="2651760"/>
            <a:ext cx="3611880" cy="182880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732520" y="2880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96265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41832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AutoEncoder OOD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4183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重建误差 · 闭环自学习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732520" y="3520440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3"/>
          <p:cNvSpPr/>
          <p:nvPr/>
        </p:nvSpPr>
        <p:spPr>
          <a:xfrm>
            <a:off x="87325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4级熔断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7325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异常自动入库,达阈值触发增量训练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2697480" y="4663440"/>
            <a:ext cx="3611880" cy="182880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926080" y="4892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4974336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611880" y="4846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PPO + GNN 嵌入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3611880" y="5166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连续表征 · 项目关联感知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926080" y="5532120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0"/>
          <p:cNvSpPr/>
          <p:nvPr/>
        </p:nvSpPr>
        <p:spPr>
          <a:xfrm>
            <a:off x="2926080" y="5532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24维状态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2926080" y="5897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RL理解项目间客流迁移与定价弹性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565392" y="4663440"/>
            <a:ext cx="3611880" cy="182880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793992" y="4892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4974336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479792" y="4846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MAPE 实时监控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7479792" y="5166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预测偏差 · 告警闭环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793992" y="5532120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37"/>
          <p:cNvSpPr/>
          <p:nvPr/>
        </p:nvSpPr>
        <p:spPr>
          <a:xfrm>
            <a:off x="6793992" y="5532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连续3天阈值告警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793992" y="5897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实际vs预测持续追踪,异常自动报警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v3 量化指标 · 性能 × 安全 双突破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不是堆功能,是把每一项指标都打到生产级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45720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212080" cy="914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</a:rPr>
              <a:t>⚡ 性能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90×</a:t>
            </a:r>
            <a:endParaRPr lang="en-US" sz="90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批处理推理加速比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4845ms → 53ms · for循环改批量推理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API 路由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0604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全异步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2336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FastAPI + 线程池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5166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特征缓存命中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06040" y="5166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&lt;3ms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2336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TTL 1小时,启动预热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5669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并发能力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06040" y="5669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1000+ QPS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2336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实测压测,P99&lt;200ms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1783080"/>
            <a:ext cx="5212080" cy="45720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920" y="1783080"/>
            <a:ext cx="5212080" cy="91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</a:rPr>
              <a:t>🛡 安全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400800" y="2606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级</a:t>
            </a:r>
            <a:endParaRPr lang="en-US" sz="9000" dirty="0"/>
          </a:p>
        </p:txBody>
      </p:sp>
      <p:sp>
        <p:nvSpPr>
          <p:cNvPr id="25" name="Text 21"/>
          <p:cNvSpPr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分布偏移自动熔断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normal/light/severe/critical · OOD输入100%规则兜底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AutoEncoder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09244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重建误差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50976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联合分布检测,Z-score补充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400800" y="5166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API 校验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92440" y="5166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 维拒绝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509760" y="5166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温度/降水/枚举/边界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00800" y="5669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异常闭环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092440" y="5669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自动入库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9509760" y="5669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达阈值异步增量训练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VaR 风险定价 · 让 AI 学会保守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分位数预测 + 风险价值决策 · 不确定性高时自动收敛保守价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📊 分位数预测曲线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0312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980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🎯 VaR 决策策略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214884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214884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不确定性 · 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&lt;30%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期望最大化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35240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P50最优价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35240" y="3063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例: 晴朗周末: ¥455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347472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47472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不确定性 · 中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412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30%-60%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风险厌恶混合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35240" y="4187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0.7×P10 + 0.3×P50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35240" y="4389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例: 节前夕: ¥420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98080" y="480060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0" y="4800600"/>
            <a:ext cx="40233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763524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不确定性 · 高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241280" y="4937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&gt;60%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35240" y="5257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VaR 保守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35240" y="5513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P10最优价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635240" y="5715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例: 极端天气: ¥365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" y="6355080"/>
            <a:ext cx="10698480" cy="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v3 闭环架构 · 学习-决策-反馈一体化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从单次预测到持续学习,AI 真正参与运营决策循环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691640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154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3591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请求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API入参强校验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2766060"/>
            <a:ext cx="27432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286000" y="1828800"/>
            <a:ext cx="1691640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24231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5750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23591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特征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28600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自动派生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977640" y="2766060"/>
            <a:ext cx="27432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251960" y="1828800"/>
            <a:ext cx="1691640" cy="2103120"/>
          </a:xfrm>
          <a:prstGeom prst="rect">
            <a:avLst/>
          </a:prstGeom>
          <a:solidFill>
            <a:srgbClr val="3A8FA6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2346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35915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2519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预测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25196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Quantile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P10/P50/P90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943600" y="2766060"/>
            <a:ext cx="27432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217920" y="1828800"/>
            <a:ext cx="169164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6355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78942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35915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检测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21792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OOD熔断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909560" y="2766060"/>
            <a:ext cx="27432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183880" y="1828800"/>
            <a:ext cx="1691640" cy="2103120"/>
          </a:xfrm>
          <a:prstGeom prst="rect">
            <a:avLst/>
          </a:prstGeom>
          <a:solidFill>
            <a:srgbClr val="6FA9BC"/>
          </a:solidFill>
          <a:ln/>
        </p:spPr>
      </p:sp>
      <p:sp>
        <p:nvSpPr>
          <p:cNvPr id="33" name="Text 27"/>
          <p:cNvSpPr/>
          <p:nvPr/>
        </p:nvSpPr>
        <p:spPr>
          <a:xfrm>
            <a:off x="83210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75538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532" y="2359152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8388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决策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818388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VaR定价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3路融合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9875520" y="2766060"/>
            <a:ext cx="27432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10149840" y="1828800"/>
            <a:ext cx="1691640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3"/>
          <p:cNvSpPr/>
          <p:nvPr/>
        </p:nvSpPr>
        <p:spPr>
          <a:xfrm>
            <a:off x="102870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1072134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4492" y="2359152"/>
            <a:ext cx="402336" cy="40233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14984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监控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1014984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MAPE告警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实际反馈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09042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↓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731520" y="4434840"/>
            <a:ext cx="1069848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dash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572000"/>
            <a:ext cx="457200" cy="4572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5544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自学习反馈回路 (Closed-Loop Learning)</a:t>
            </a:r>
            <a:endParaRPr lang="en-US" sz="1400" dirty="0"/>
          </a:p>
        </p:txBody>
      </p:sp>
      <p:sp>
        <p:nvSpPr>
          <p:cNvPr id="49" name="Text 40"/>
          <p:cNvSpPr/>
          <p:nvPr/>
        </p:nvSpPr>
        <p:spPr>
          <a:xfrm>
            <a:off x="1554480" y="4983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</a:rPr>
              <a:t>• 每次定价后,实际客流自动回流监控器  • CRITICAL异常样本自动入库  • 达阈值触发增量训练任务  • 模型持续进化</a:t>
            </a:r>
            <a:endParaRPr lang="en-US" sz="1150" dirty="0"/>
          </a:p>
        </p:txBody>
      </p:sp>
      <p:sp>
        <p:nvSpPr>
          <p:cNvPr id="50" name="Shape 41"/>
          <p:cNvSpPr/>
          <p:nvPr/>
        </p:nvSpPr>
        <p:spPr>
          <a:xfrm>
            <a:off x="731520" y="5715000"/>
            <a:ext cx="1069848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1" name="Text 42"/>
          <p:cNvSpPr/>
          <p:nvPr/>
        </p:nvSpPr>
        <p:spPr>
          <a:xfrm>
            <a:off x="731520" y="5715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💡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传统ML系统只在【训练时】学习,v3 在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【运行时也持续学习】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—— 这是真正的 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MLOps 闭环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可选 · GAI 应用畅想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运营助理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从数据看板到对话式决策 —— 生成式AI 深度赋能运营工作流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6583680" cy="393192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💬 自然语言对话示例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3063240"/>
            <a:ext cx="4572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下周客流高峰日有哪些?该加价吗?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5029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下周五/六/日为3个高峰日,预计负载率分别 82% / 91% / 87%。建议票价从¥299上浮至¥380,并配合快速通道¥80附加销售,预计单客毛利提升 42%。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617720"/>
            <a:ext cx="4572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4617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明天有雨,该怎么应对?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166360"/>
            <a:ext cx="502920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12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明天降雨概率 75%,预计客流下降30%。已为您启动【雨天特惠+室内项目优先券】(门票88折),推送OTA/抖音/社群,预计挽回客流 18%,避免收入损失约 ¥45 万元。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核心能力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日报/周报/月报自动生成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355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零人工撰写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3721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388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机会点主动提示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4014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从数据中提炼洞察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4379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8388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自然语言提问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672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管理层无需SQL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5038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83880" y="5084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套餐文案自动生成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5330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适配不同客群语气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5696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183880" y="5742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多渠道推送整合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5989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OTA/社群/站内消息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</a:rPr>
              <a:t>价值总结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一套 AI 平台,双重目标达成 —— 游客体验与园区收入同步提升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32004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2120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🎢  对游客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-35%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平均排队时长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分时预约 + 错峰套餐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+25%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满意度 NPS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天气自适应体验保障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+40%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个性化匹配度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按客群分层推荐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212080" cy="32004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783080"/>
            <a:ext cx="52120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💰  对园区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724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总收入提升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动态定价 + 套餐优化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7724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二次消费占比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组合策略推动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-60%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7724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运营决策耗时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AI自动生成建议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期待答辩交流  ·  AI 智能定价票务平台 v3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AI智能定价票务平台 v3</dc:title>
  <dc:subject>PptxGenJS Presentation</dc:subject>
  <dc:creator>Hexi</dc:creator>
  <cp:lastModifiedBy>Hexi</cp:lastModifiedBy>
  <cp:revision>1</cp:revision>
  <dcterms:created xsi:type="dcterms:W3CDTF">2026-04-17T21:43:09Z</dcterms:created>
  <dcterms:modified xsi:type="dcterms:W3CDTF">2026-04-17T21:43:09Z</dcterms:modified>
</cp:coreProperties>
</file>